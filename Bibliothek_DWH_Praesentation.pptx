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48C2C-2BAF-45B2-BCFC-BD67F099E0B0}" v="678" dt="2025-11-13T12:24:53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352794" y="3388321"/>
            <a:ext cx="32004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23606" y="1637601"/>
            <a:ext cx="6858003" cy="35827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0935" y="857786"/>
            <a:ext cx="8300268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766" y="3071183"/>
            <a:ext cx="7432722" cy="2590027"/>
          </a:xfrm>
        </p:spPr>
        <p:txBody>
          <a:bodyPr anchor="t">
            <a:normAutofit/>
          </a:bodyPr>
          <a:lstStyle/>
          <a:p>
            <a:pPr algn="l"/>
            <a:r>
              <a:rPr lang="en-US" sz="7000"/>
              <a:t>Data Warehouse Projekt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0766" y="1553518"/>
            <a:ext cx="7432721" cy="12817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b="1"/>
              <a:t>Bibliotheksverwaltungssystem</a:t>
            </a:r>
            <a:endParaRPr lang="en-US" sz="2500" b="1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2500" b="1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2500" b="1"/>
              <a:t>Data Engineering - 2025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43057" y="3385173"/>
            <a:ext cx="32004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n-US" sz="4200"/>
              <a:t>Bibliotheksverwaltungssystem</a:t>
            </a:r>
            <a:br>
              <a:rPr lang="en-US" sz="4200"/>
            </a:br>
            <a:r>
              <a:rPr lang="en-US" sz="4200">
                <a:ea typeface="Calibri"/>
                <a:cs typeface="Calibri"/>
              </a:rPr>
              <a:t>(Library Management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err="1">
                <a:ea typeface="Calibri"/>
                <a:cs typeface="Calibri"/>
              </a:rPr>
              <a:t>Projektziel</a:t>
            </a:r>
            <a:r>
              <a:rPr lang="en-US" sz="2400" b="1" dirty="0">
                <a:ea typeface="Calibri"/>
                <a:cs typeface="Calibri"/>
              </a:rPr>
              <a:t>:</a:t>
            </a:r>
            <a:endParaRPr lang="en-US" sz="2400" b="1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ea typeface="Calibri"/>
              <a:cs typeface="Calibri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2400" err="1">
                <a:ea typeface="Calibri"/>
                <a:cs typeface="Calibri"/>
              </a:rPr>
              <a:t>Entwicklung</a:t>
            </a:r>
            <a:r>
              <a:rPr lang="en-US" sz="2400" dirty="0">
                <a:ea typeface="Calibri"/>
                <a:cs typeface="Calibri"/>
              </a:rPr>
              <a:t> </a:t>
            </a:r>
            <a:r>
              <a:rPr lang="en-US" sz="2400" err="1">
                <a:ea typeface="Calibri"/>
                <a:cs typeface="Calibri"/>
              </a:rPr>
              <a:t>eines</a:t>
            </a:r>
            <a:r>
              <a:rPr lang="en-US" sz="2400" dirty="0">
                <a:ea typeface="Calibri"/>
                <a:cs typeface="Calibri"/>
              </a:rPr>
              <a:t> Data Warehouse Systems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2400" err="1">
                <a:ea typeface="Calibri"/>
                <a:cs typeface="Calibri"/>
              </a:rPr>
              <a:t>Analyse</a:t>
            </a:r>
            <a:r>
              <a:rPr lang="en-US" sz="2400" dirty="0">
                <a:ea typeface="Calibri"/>
                <a:cs typeface="Calibri"/>
              </a:rPr>
              <a:t> von </a:t>
            </a:r>
            <a:r>
              <a:rPr lang="en-US" sz="2400" err="1">
                <a:ea typeface="Calibri"/>
                <a:cs typeface="Calibri"/>
              </a:rPr>
              <a:t>Ausleihtrends</a:t>
            </a:r>
            <a:r>
              <a:rPr lang="en-US" sz="2400" dirty="0">
                <a:ea typeface="Calibri"/>
                <a:cs typeface="Calibri"/>
              </a:rPr>
              <a:t> und </a:t>
            </a:r>
            <a:r>
              <a:rPr lang="en-US" sz="2400" err="1">
                <a:ea typeface="Calibri"/>
                <a:cs typeface="Calibri"/>
              </a:rPr>
              <a:t>Nutzerverhalten</a:t>
            </a:r>
            <a:endParaRPr lang="en-US" sz="2400">
              <a:ea typeface="Calibri"/>
              <a:cs typeface="Calibri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2400" err="1">
                <a:ea typeface="Calibri"/>
                <a:cs typeface="Calibri"/>
              </a:rPr>
              <a:t>Bedarfsanalyse</a:t>
            </a:r>
            <a:r>
              <a:rPr lang="en-US" sz="2400" dirty="0">
                <a:ea typeface="Calibri"/>
                <a:cs typeface="Calibri"/>
              </a:rPr>
              <a:t> für </a:t>
            </a:r>
            <a:r>
              <a:rPr lang="en-US" sz="2400" err="1">
                <a:ea typeface="Calibri"/>
                <a:cs typeface="Calibri"/>
              </a:rPr>
              <a:t>Buchanschaffungen</a:t>
            </a:r>
            <a:endParaRPr lang="en-US" sz="2400">
              <a:ea typeface="Calibri"/>
              <a:cs typeface="Calibri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 sz="2400" err="1">
                <a:ea typeface="Calibri"/>
                <a:cs typeface="Calibri"/>
              </a:rPr>
              <a:t>Optimierung</a:t>
            </a:r>
            <a:r>
              <a:rPr lang="en-US" sz="2400" dirty="0">
                <a:ea typeface="Calibri"/>
                <a:cs typeface="Calibri"/>
              </a:rPr>
              <a:t> der </a:t>
            </a:r>
            <a:r>
              <a:rPr lang="en-US" sz="2400" err="1">
                <a:ea typeface="Calibri"/>
                <a:cs typeface="Calibri"/>
              </a:rPr>
              <a:t>Bibliotheksverwaltung</a:t>
            </a:r>
            <a:endParaRPr lang="en-US" sz="2400">
              <a:ea typeface="Calibri"/>
              <a:cs typeface="Calibri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Teammitglieder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09557"/>
            <a:ext cx="7455989" cy="32919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100" b="1" dirty="0" err="1">
                <a:ea typeface="Calibri"/>
                <a:cs typeface="Calibri"/>
              </a:rPr>
              <a:t>Projektteam</a:t>
            </a:r>
            <a:r>
              <a:rPr lang="en-US" sz="2100" b="1" dirty="0">
                <a:ea typeface="Calibri"/>
                <a:cs typeface="Calibri"/>
              </a:rPr>
              <a:t>:</a:t>
            </a:r>
            <a:r>
              <a:rPr lang="en-US" sz="2100" dirty="0">
                <a:ea typeface="Calibri"/>
                <a:cs typeface="Calibri"/>
              </a:rPr>
              <a:t> 1</a:t>
            </a:r>
            <a:r>
              <a:rPr lang="en-US" sz="2100" dirty="0">
                <a:ea typeface="+mn-lt"/>
                <a:cs typeface="+mn-lt"/>
              </a:rPr>
              <a:t>-</a:t>
            </a:r>
            <a:r>
              <a:rPr lang="en-US" sz="2100" dirty="0">
                <a:ea typeface="Calibri"/>
                <a:cs typeface="Calibri"/>
              </a:rPr>
              <a:t>köpfig</a:t>
            </a: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1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100" b="1" dirty="0" err="1">
                <a:ea typeface="Calibri"/>
                <a:cs typeface="Calibri"/>
              </a:rPr>
              <a:t>Teammitglieder</a:t>
            </a:r>
            <a:r>
              <a:rPr lang="en-US" sz="2100" b="1" dirty="0">
                <a:ea typeface="Calibri"/>
                <a:cs typeface="Calibri"/>
              </a:rPr>
              <a:t>:</a:t>
            </a:r>
            <a:r>
              <a:rPr lang="en-US" sz="2100" dirty="0">
                <a:ea typeface="Calibri"/>
                <a:cs typeface="Calibri"/>
              </a:rPr>
              <a:t> </a:t>
            </a:r>
            <a:endParaRPr lang="en-US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2100" dirty="0">
                <a:ea typeface="Calibri"/>
                <a:cs typeface="Calibri"/>
              </a:rPr>
              <a:t>Mojgan </a:t>
            </a:r>
            <a:r>
              <a:rPr lang="en-US" sz="2100" err="1">
                <a:ea typeface="Calibri"/>
                <a:cs typeface="Calibri"/>
              </a:rPr>
              <a:t>Rezakhani</a:t>
            </a:r>
            <a:endParaRPr lang="en-US" sz="21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1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100" b="1" err="1">
                <a:ea typeface="Calibri"/>
                <a:cs typeface="Calibri"/>
              </a:rPr>
              <a:t>Projektrolle</a:t>
            </a:r>
            <a:r>
              <a:rPr lang="en-US" sz="2100" b="1" dirty="0">
                <a:ea typeface="Calibri"/>
                <a:cs typeface="Calibri"/>
              </a:rPr>
              <a:t>:</a:t>
            </a:r>
            <a:endParaRPr lang="en-US" b="1" dirty="0">
              <a:ea typeface="Calibri"/>
              <a:cs typeface="Calibri"/>
            </a:endParaRPr>
          </a:p>
          <a:p>
            <a:pPr marL="800100" lvl="1" indent="-342900">
              <a:spcBef>
                <a:spcPts val="0"/>
              </a:spcBef>
              <a:buChar char="•"/>
            </a:pPr>
            <a:r>
              <a:rPr lang="en-US" sz="2100" dirty="0">
                <a:ea typeface="Calibri"/>
                <a:cs typeface="Calibri"/>
              </a:rPr>
              <a:t>Data Engineer</a:t>
            </a:r>
            <a:endParaRPr lang="en-US" dirty="0">
              <a:ea typeface="Calibri"/>
              <a:cs typeface="Calibri"/>
            </a:endParaRPr>
          </a:p>
          <a:p>
            <a:pPr marL="800100" lvl="1" indent="-342900">
              <a:spcBef>
                <a:spcPts val="0"/>
              </a:spcBef>
              <a:buChar char="•"/>
            </a:pPr>
            <a:r>
              <a:rPr lang="en-US" sz="2100" dirty="0">
                <a:ea typeface="Calibri"/>
                <a:cs typeface="Calibri"/>
              </a:rPr>
              <a:t>ETL-</a:t>
            </a:r>
            <a:r>
              <a:rPr lang="en-US" sz="2100" err="1">
                <a:ea typeface="Calibri"/>
                <a:cs typeface="Calibri"/>
              </a:rPr>
              <a:t>Entwicklung</a:t>
            </a:r>
            <a:endParaRPr lang="en-US" sz="2100">
              <a:ea typeface="Calibri"/>
              <a:cs typeface="Calibri"/>
            </a:endParaRPr>
          </a:p>
          <a:p>
            <a:pPr marL="800100" lvl="1" indent="-342900">
              <a:spcBef>
                <a:spcPts val="0"/>
              </a:spcBef>
              <a:buChar char="•"/>
            </a:pPr>
            <a:r>
              <a:rPr lang="en-US" sz="2100" dirty="0">
                <a:ea typeface="Calibri"/>
                <a:cs typeface="Calibri"/>
              </a:rPr>
              <a:t>DWH-Design</a:t>
            </a:r>
            <a:endParaRPr lang="en-US" dirty="0">
              <a:ea typeface="Calibri"/>
              <a:cs typeface="Calibri"/>
            </a:endParaRPr>
          </a:p>
          <a:p>
            <a:pPr marL="800100" lvl="1" indent="-342900">
              <a:spcBef>
                <a:spcPts val="0"/>
              </a:spcBef>
              <a:buChar char="•"/>
            </a:pPr>
            <a:r>
              <a:rPr lang="en-US" sz="2100" err="1">
                <a:ea typeface="Calibri"/>
                <a:cs typeface="Calibri"/>
              </a:rPr>
              <a:t>Datenbank</a:t>
            </a:r>
            <a:r>
              <a:rPr lang="en-US" sz="2100" dirty="0">
                <a:ea typeface="Calibri"/>
                <a:cs typeface="Calibri"/>
              </a:rPr>
              <a:t>-Administration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4412-58D4-6262-5827-F6B17CD0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E4B8C4-5266-3392-3F91-399F5F37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17A61B-847E-6E27-448C-B1E53D3BC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6ABB6A-809D-E45D-685C-5802C089A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581C3B-3287-D20D-9D37-580518BB9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0E2D43-9B6A-594F-B62E-0180F5B4D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3751A39-03F5-93F0-0D4C-50834033A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C79E2-7F7E-FBFC-3699-4E43699EB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dirty="0" err="1"/>
              <a:t>Einschränkungen</a:t>
            </a:r>
            <a:r>
              <a:rPr lang="en-US" dirty="0"/>
              <a:t> &amp;</a:t>
            </a:r>
            <a:r>
              <a:rPr lang="en-US" dirty="0" err="1"/>
              <a:t>Randbedingungen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33854-3B0F-8E2D-1F8E-32553DF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5069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Technische</a:t>
            </a:r>
            <a:r>
              <a:rPr lang="en-US" sz="1600" b="1" dirty="0">
                <a:ea typeface="Calibri"/>
                <a:cs typeface="Calibri"/>
              </a:rPr>
              <a:t> </a:t>
            </a:r>
            <a:r>
              <a:rPr lang="en-US" sz="1600" b="1" dirty="0" err="1">
                <a:ea typeface="Calibri"/>
                <a:cs typeface="Calibri"/>
              </a:rPr>
              <a:t>Randbedingungen</a:t>
            </a:r>
            <a:r>
              <a:rPr lang="en-US" sz="1600" b="1" dirty="0">
                <a:ea typeface="Calibri"/>
                <a:cs typeface="Calibri"/>
              </a:rPr>
              <a:t>: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SQLite </a:t>
            </a:r>
            <a:r>
              <a:rPr lang="en-US" sz="1600" err="1">
                <a:ea typeface="Calibri"/>
                <a:cs typeface="Calibri"/>
              </a:rPr>
              <a:t>als</a:t>
            </a:r>
            <a:r>
              <a:rPr lang="en-US" sz="1600" dirty="0">
                <a:ea typeface="Calibri"/>
                <a:cs typeface="Calibri"/>
              </a:rPr>
              <a:t> Datenbanksystem (OLTP &amp; DWH)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Python für ETL-</a:t>
            </a:r>
            <a:r>
              <a:rPr lang="en-US" sz="1600" err="1">
                <a:ea typeface="Calibri"/>
                <a:cs typeface="Calibri"/>
              </a:rPr>
              <a:t>Prozesse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spcBef>
                <a:spcPts val="0"/>
              </a:spcBef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Fachliche</a:t>
            </a:r>
            <a:r>
              <a:rPr lang="en-US" sz="1600" b="1" dirty="0">
                <a:ea typeface="Calibri"/>
                <a:cs typeface="Calibri"/>
              </a:rPr>
              <a:t> </a:t>
            </a:r>
            <a:r>
              <a:rPr lang="en-US" sz="1600" b="1" dirty="0" err="1">
                <a:ea typeface="Calibri"/>
                <a:cs typeface="Calibri"/>
              </a:rPr>
              <a:t>Einschränkungen</a:t>
            </a:r>
            <a:r>
              <a:rPr lang="en-US" sz="1600" b="1" dirty="0">
                <a:ea typeface="Calibri"/>
                <a:cs typeface="Calibri"/>
              </a:rPr>
              <a:t>: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Ein Buch </a:t>
            </a:r>
            <a:r>
              <a:rPr lang="en-US" sz="1600" err="1">
                <a:ea typeface="Calibri"/>
                <a:cs typeface="Calibri"/>
              </a:rPr>
              <a:t>kann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mehrere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Autoren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haben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err="1">
                <a:ea typeface="Calibri"/>
                <a:cs typeface="Calibri"/>
              </a:rPr>
              <a:t>Bücher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werden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nur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bei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einem</a:t>
            </a:r>
            <a:r>
              <a:rPr lang="en-US" sz="1600" dirty="0">
                <a:ea typeface="Calibri"/>
                <a:cs typeface="Calibri"/>
              </a:rPr>
              <a:t> Verlag </a:t>
            </a:r>
            <a:r>
              <a:rPr lang="en-US" sz="1600" err="1">
                <a:ea typeface="Calibri"/>
                <a:cs typeface="Calibri"/>
              </a:rPr>
              <a:t>zugekauft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err="1">
                <a:ea typeface="Calibri"/>
                <a:cs typeface="Calibri"/>
              </a:rPr>
              <a:t>Mitglieder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können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nur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einen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aktiven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Mitgliedstyp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haben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err="1">
                <a:ea typeface="Calibri"/>
                <a:cs typeface="Calibri"/>
              </a:rPr>
              <a:t>Reservierungen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gelten</a:t>
            </a:r>
            <a:r>
              <a:rPr lang="en-US" sz="1600" dirty="0">
                <a:ea typeface="Calibri"/>
                <a:cs typeface="Calibri"/>
              </a:rPr>
              <a:t> pro Buch, nicht pro Exemplar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Zeitliche</a:t>
            </a:r>
            <a:r>
              <a:rPr lang="en-US" sz="1600" b="1" dirty="0">
                <a:ea typeface="Calibri"/>
                <a:cs typeface="Calibri"/>
              </a:rPr>
              <a:t> </a:t>
            </a:r>
            <a:r>
              <a:rPr lang="en-US" sz="1600" b="1" dirty="0" err="1">
                <a:ea typeface="Calibri"/>
                <a:cs typeface="Calibri"/>
              </a:rPr>
              <a:t>Randbedingungen</a:t>
            </a:r>
            <a:r>
              <a:rPr lang="en-US" sz="1600" b="1" dirty="0">
                <a:ea typeface="Calibri"/>
                <a:cs typeface="Calibri"/>
              </a:rPr>
              <a:t>:</a:t>
            </a:r>
            <a:endParaRPr lang="en-US" sz="1600" dirty="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err="1">
                <a:ea typeface="Calibri"/>
                <a:cs typeface="Calibri"/>
              </a:rPr>
              <a:t>Projektdauer</a:t>
            </a:r>
            <a:r>
              <a:rPr lang="en-US" sz="1600" dirty="0">
                <a:ea typeface="Calibri"/>
                <a:cs typeface="Calibri"/>
              </a:rPr>
              <a:t>: 1 </a:t>
            </a:r>
            <a:r>
              <a:rPr lang="en-US" sz="1600" err="1">
                <a:ea typeface="Calibri"/>
                <a:cs typeface="Calibri"/>
              </a:rPr>
              <a:t>Woche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err="1">
                <a:ea typeface="Calibri"/>
                <a:cs typeface="Calibri"/>
              </a:rPr>
              <a:t>Historische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Daten</a:t>
            </a:r>
            <a:r>
              <a:rPr lang="en-US" sz="1600" dirty="0">
                <a:ea typeface="Calibri"/>
                <a:cs typeface="Calibri"/>
              </a:rPr>
              <a:t>: 2020-2027</a:t>
            </a:r>
            <a:endParaRPr lang="en-US" dirty="0">
              <a:ea typeface="Calibri"/>
              <a:cs typeface="Calibri"/>
            </a:endParaRPr>
          </a:p>
          <a:p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0F7851-A075-99DF-D0B1-1DB981E51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8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8FD49-7364-0613-2A44-7AEF65499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B559AA-FE95-63E5-75A1-D52919E33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AA4A9D-E930-7ADE-FD8C-EA50EF3B0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DF741C-935A-637C-985B-23D71F5E0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D3B285-A726-ABF9-6F3F-D1C24D528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AFAD5E-1592-4419-5C6D-C0925F472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675509-17FB-DBD2-3275-C516C6F5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F9D84-E588-6225-4399-4BA98A11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Business DB - Design (ER-Modell)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CD857-C107-483F-8EED-EC610A86C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Operationale</a:t>
            </a:r>
            <a:r>
              <a:rPr lang="en-US" sz="1600" b="1" dirty="0">
                <a:ea typeface="Calibri"/>
                <a:cs typeface="Calibri"/>
              </a:rPr>
              <a:t> </a:t>
            </a:r>
            <a:r>
              <a:rPr lang="en-US" sz="1600" b="1" dirty="0" err="1">
                <a:ea typeface="Calibri"/>
                <a:cs typeface="Calibri"/>
              </a:rPr>
              <a:t>Datenbank</a:t>
            </a:r>
            <a:r>
              <a:rPr lang="en-US" sz="1600" b="1" dirty="0">
                <a:ea typeface="Calibri"/>
                <a:cs typeface="Calibri"/>
              </a:rPr>
              <a:t> (OLTP):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Kernentitäten</a:t>
            </a:r>
            <a:r>
              <a:rPr lang="en-US" sz="1600" b="1" dirty="0">
                <a:ea typeface="Calibri"/>
                <a:cs typeface="Calibri"/>
              </a:rPr>
              <a:t>:</a:t>
            </a:r>
            <a:endParaRPr lang="en-US" sz="1600" dirty="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PERSON - Basis für </a:t>
            </a:r>
            <a:r>
              <a:rPr lang="en-US" sz="1600" err="1">
                <a:ea typeface="Calibri"/>
                <a:cs typeface="Calibri"/>
              </a:rPr>
              <a:t>Mitglieder</a:t>
            </a:r>
            <a:r>
              <a:rPr lang="en-US" sz="1600" dirty="0">
                <a:ea typeface="Calibri"/>
                <a:cs typeface="Calibri"/>
              </a:rPr>
              <a:t> und </a:t>
            </a:r>
            <a:r>
              <a:rPr lang="en-US" sz="1600" err="1">
                <a:ea typeface="Calibri"/>
                <a:cs typeface="Calibri"/>
              </a:rPr>
              <a:t>Bibliothekare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MITGLIED - </a:t>
            </a:r>
            <a:r>
              <a:rPr lang="en-US" sz="1600" err="1">
                <a:ea typeface="Calibri"/>
                <a:cs typeface="Calibri"/>
              </a:rPr>
              <a:t>Bibliotheksnutzer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BUCH - </a:t>
            </a:r>
            <a:r>
              <a:rPr lang="en-US" sz="1600" err="1">
                <a:ea typeface="Calibri"/>
                <a:cs typeface="Calibri"/>
              </a:rPr>
              <a:t>Buchstammdaten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BUCHEXEMPLAR - </a:t>
            </a:r>
            <a:r>
              <a:rPr lang="en-US" sz="1600" err="1">
                <a:ea typeface="Calibri"/>
                <a:cs typeface="Calibri"/>
              </a:rPr>
              <a:t>Physische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Exemplare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AUTOR, KATEGORIE, VERLAG - </a:t>
            </a:r>
            <a:r>
              <a:rPr lang="en-US" sz="1600" err="1">
                <a:ea typeface="Calibri"/>
                <a:cs typeface="Calibri"/>
              </a:rPr>
              <a:t>Stammdaten</a:t>
            </a:r>
            <a:endParaRPr lang="en-US" sz="16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Transaktionsentitäten</a:t>
            </a:r>
            <a:r>
              <a:rPr lang="en-US" sz="1600" b="1" dirty="0">
                <a:ea typeface="Calibri"/>
                <a:cs typeface="Calibri"/>
              </a:rPr>
              <a:t>:</a:t>
            </a:r>
            <a:endParaRPr lang="en-US" sz="1600" dirty="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AUSLEIHE - </a:t>
            </a:r>
            <a:r>
              <a:rPr lang="en-US" sz="1600" err="1">
                <a:ea typeface="Calibri"/>
                <a:cs typeface="Calibri"/>
              </a:rPr>
              <a:t>Ausleihvorgänge</a:t>
            </a:r>
            <a:endParaRPr lang="en-US" sz="16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600" dirty="0">
                <a:ea typeface="Calibri"/>
                <a:cs typeface="Calibri"/>
              </a:rPr>
              <a:t>RESERVIERUNG - </a:t>
            </a:r>
            <a:r>
              <a:rPr lang="en-US" sz="1600" err="1">
                <a:ea typeface="Calibri"/>
                <a:cs typeface="Calibri"/>
              </a:rPr>
              <a:t>Buchreservierungen</a:t>
            </a:r>
            <a:endParaRPr lang="en-US" sz="16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Normalisierung</a:t>
            </a:r>
            <a:r>
              <a:rPr lang="en-US" sz="1600" b="1" dirty="0">
                <a:ea typeface="Calibri"/>
                <a:cs typeface="Calibri"/>
              </a:rPr>
              <a:t>:</a:t>
            </a:r>
            <a:r>
              <a:rPr lang="en-US" sz="1600" dirty="0">
                <a:ea typeface="Calibri"/>
                <a:cs typeface="Calibri"/>
              </a:rPr>
              <a:t> 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3. </a:t>
            </a:r>
            <a:r>
              <a:rPr lang="en-US" sz="1700" dirty="0" err="1">
                <a:ea typeface="Calibri"/>
                <a:cs typeface="Calibri"/>
              </a:rPr>
              <a:t>Normalform</a:t>
            </a:r>
            <a:r>
              <a:rPr lang="en-US" sz="1700" dirty="0">
                <a:ea typeface="Calibri"/>
                <a:cs typeface="Calibri"/>
              </a:rPr>
              <a:t> (3NF)</a:t>
            </a:r>
          </a:p>
          <a:p>
            <a:pPr marL="285750" indent="-285750">
              <a:spcBef>
                <a:spcPts val="0"/>
              </a:spcBef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ea typeface="Calibri"/>
                <a:cs typeface="Calibri"/>
              </a:rPr>
              <a:t>Dokumentation</a:t>
            </a:r>
            <a:r>
              <a:rPr lang="en-US" sz="1600" b="1" dirty="0">
                <a:ea typeface="Calibri"/>
                <a:cs typeface="Calibri"/>
              </a:rPr>
              <a:t>:</a:t>
            </a:r>
            <a:r>
              <a:rPr lang="en-US" sz="1600" dirty="0">
                <a:ea typeface="Calibri"/>
                <a:cs typeface="Calibri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  Chen-ER-</a:t>
            </a:r>
            <a:r>
              <a:rPr lang="en-US" sz="1600" dirty="0" err="1">
                <a:ea typeface="Calibri"/>
                <a:cs typeface="Calibri"/>
              </a:rPr>
              <a:t>Diagramm</a:t>
            </a:r>
            <a:r>
              <a:rPr lang="en-US" sz="1600" dirty="0">
                <a:ea typeface="Calibri"/>
                <a:cs typeface="Calibri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  ER-</a:t>
            </a:r>
            <a:r>
              <a:rPr lang="en-US" sz="1600" dirty="0" err="1">
                <a:ea typeface="Calibri"/>
                <a:cs typeface="Calibri"/>
              </a:rPr>
              <a:t>Diagramm</a:t>
            </a:r>
            <a:endParaRPr lang="en-US" dirty="0" err="1"/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AFCFE8-FC74-8425-903F-E6BD398EA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00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7AA6-4FE4-ABC6-46ED-21A5D72B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A37BF3-15AF-C8BE-AF9B-02123CAEE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E25DE4-E33A-EF89-94EC-7FD5030D2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039CE4-A49C-1A00-343B-4547813BE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2375C0-C42B-8955-407F-4804D458A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0E2CBE-DC79-351B-5384-5807B8F4A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9BB755-5EA7-0042-A4A5-E93B102AF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28845-33C5-ACCF-DF40-D6659684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DWH </a:t>
            </a:r>
            <a:r>
              <a:rPr lang="en-US" sz="3600" dirty="0"/>
              <a:t>Design</a:t>
            </a:r>
            <a:r>
              <a:rPr lang="en-US" sz="4000" dirty="0"/>
              <a:t> - Snowflake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3947-747C-0231-2456-D007E96FD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e-DE" sz="1700" b="1" dirty="0">
                <a:ea typeface="Calibri"/>
                <a:cs typeface="Calibri"/>
              </a:rPr>
              <a:t>Dimensionen:</a:t>
            </a:r>
            <a:endParaRPr lang="en-US" sz="17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de-DE" sz="1700">
                <a:ea typeface="Calibri"/>
                <a:cs typeface="Calibri"/>
              </a:rPr>
              <a:t>DIM_ZEIT - Zeitdimension (2020-2027)</a:t>
            </a:r>
            <a:endParaRPr lang="en-US" sz="1700" dirty="0">
              <a:ea typeface="Calibri"/>
              <a:cs typeface="Calibri"/>
            </a:endParaRPr>
          </a:p>
          <a:p>
            <a:pPr marL="857250" lvl="2" indent="-285750">
              <a:spcBef>
                <a:spcPts val="0"/>
              </a:spcBef>
            </a:pPr>
            <a:r>
              <a:rPr lang="de-DE" sz="1700">
                <a:ea typeface="Calibri"/>
                <a:cs typeface="Calibri"/>
              </a:rPr>
              <a:t>Hierarchien:</a:t>
            </a:r>
            <a:endParaRPr lang="en-US" sz="1700">
              <a:ea typeface="Calibri"/>
              <a:cs typeface="Calibri"/>
            </a:endParaRPr>
          </a:p>
          <a:p>
            <a:pPr lvl="2" indent="0">
              <a:spcBef>
                <a:spcPts val="0"/>
              </a:spcBef>
              <a:buNone/>
            </a:pPr>
            <a:r>
              <a:rPr lang="de-DE" sz="1500">
                <a:ea typeface="Calibri"/>
                <a:cs typeface="Calibri"/>
              </a:rPr>
              <a:t>Tag → Monat → Quartal → Jahr</a:t>
            </a:r>
            <a:endParaRPr lang="en-US" sz="1500">
              <a:ea typeface="Calibri"/>
              <a:cs typeface="Calibri"/>
            </a:endParaRPr>
          </a:p>
          <a:p>
            <a:pPr marL="857250" lvl="2" indent="-285750">
              <a:spcBef>
                <a:spcPts val="0"/>
              </a:spcBef>
            </a:pPr>
            <a:r>
              <a:rPr lang="de-DE" sz="1600">
                <a:ea typeface="Calibri"/>
                <a:cs typeface="Calibri"/>
              </a:rPr>
              <a:t>Semester, Wochentag, Wochenende-Flags</a:t>
            </a:r>
            <a:endParaRPr lang="de-DE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DIM_BUCH - Buchdimension (denormalisiert)</a:t>
            </a:r>
            <a:endParaRPr lang="en-US" sz="1700" dirty="0">
              <a:ea typeface="Calibri"/>
              <a:cs typeface="Calibri"/>
            </a:endParaRPr>
          </a:p>
          <a:p>
            <a:pPr lvl="2">
              <a:buNone/>
            </a:pPr>
            <a:r>
              <a:rPr lang="de-DE" sz="1700" dirty="0">
                <a:ea typeface="Calibri"/>
                <a:cs typeface="Calibri"/>
              </a:rPr>
              <a:t>• Hierarchien:</a:t>
            </a:r>
          </a:p>
          <a:p>
            <a:pPr marL="914400" lvl="2" indent="0">
              <a:buNone/>
            </a:pPr>
            <a:r>
              <a:rPr lang="de-DE" sz="1200" dirty="0">
                <a:ea typeface="Calibri"/>
                <a:cs typeface="Calibri"/>
              </a:rPr>
              <a:t>  </a:t>
            </a:r>
            <a:r>
              <a:rPr lang="de-DE" sz="1400" dirty="0">
                <a:ea typeface="Calibri"/>
                <a:cs typeface="Calibri"/>
              </a:rPr>
              <a:t>Titel → </a:t>
            </a:r>
            <a:r>
              <a:rPr lang="de-DE" sz="1400" err="1">
                <a:ea typeface="Calibri"/>
                <a:cs typeface="Calibri"/>
              </a:rPr>
              <a:t>Author</a:t>
            </a:r>
            <a:r>
              <a:rPr lang="de-DE" sz="1400" dirty="0">
                <a:ea typeface="Calibri"/>
                <a:cs typeface="Calibri"/>
              </a:rPr>
              <a:t> → Kategorie → Verlag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• Kategorie, Autor, Verlag integriert</a:t>
            </a:r>
            <a:endParaRPr lang="en-US" sz="1700" dirty="0">
              <a:ea typeface="Calibri"/>
              <a:cs typeface="Calibri"/>
            </a:endParaRPr>
          </a:p>
          <a:p>
            <a:pPr marL="914400" lvl="2" indent="0">
              <a:spcBef>
                <a:spcPts val="0"/>
              </a:spcBef>
              <a:buNone/>
            </a:pPr>
            <a:endParaRPr lang="de-DE" sz="17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DIM_MITGLIED - Mitgliederdimension</a:t>
            </a:r>
            <a:endParaRPr lang="en-US" sz="1700" dirty="0">
              <a:ea typeface="Calibri"/>
              <a:cs typeface="Calibri"/>
            </a:endParaRPr>
          </a:p>
          <a:p>
            <a:pPr marL="914400" lvl="2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• Mitgliedstyp, Status</a:t>
            </a: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de-DE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1700" b="1" dirty="0">
                <a:ea typeface="Calibri"/>
                <a:cs typeface="Calibri"/>
              </a:rPr>
              <a:t>Faktentabellen: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FACT_AUSLEIHE - Transaction Fact Table</a:t>
            </a:r>
            <a:endParaRPr lang="en-US" sz="1700" dirty="0">
              <a:ea typeface="Calibri"/>
              <a:cs typeface="Calibri"/>
            </a:endParaRPr>
          </a:p>
          <a:p>
            <a:pPr marL="914400" lvl="2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• Ausleihvorgänge mit Metriken</a:t>
            </a:r>
            <a:endParaRPr lang="en-US" sz="17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FACT_RESERVIERUNG - </a:t>
            </a:r>
            <a:r>
              <a:rPr lang="de-DE" sz="1700" dirty="0" err="1">
                <a:ea typeface="Calibri"/>
                <a:cs typeface="Calibri"/>
              </a:rPr>
              <a:t>Accumulating</a:t>
            </a:r>
            <a:r>
              <a:rPr lang="de-DE" sz="1700" dirty="0">
                <a:ea typeface="Calibri"/>
                <a:cs typeface="Calibri"/>
              </a:rPr>
              <a:t> Snapshot</a:t>
            </a:r>
            <a:endParaRPr lang="en-US" sz="1700" dirty="0">
              <a:ea typeface="Calibri"/>
              <a:cs typeface="Calibri"/>
            </a:endParaRPr>
          </a:p>
          <a:p>
            <a:pPr marL="914400" lvl="2" indent="0">
              <a:spcBef>
                <a:spcPts val="0"/>
              </a:spcBef>
              <a:buNone/>
            </a:pPr>
            <a:r>
              <a:rPr lang="de-DE" sz="1700" dirty="0">
                <a:ea typeface="Calibri"/>
                <a:cs typeface="Calibri"/>
              </a:rPr>
              <a:t>• Reservierungsstatus und Wartezeiten</a:t>
            </a:r>
            <a:endParaRPr lang="en-US" dirty="0"/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0F5C3C-9B9D-62C6-C687-C66A73BD4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81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BC43B-5359-E97D-F8B0-9155C52D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3B5CDB-2DAA-3FC2-C540-D20E06619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ED73FC-184C-A59B-B01E-E5FEC01D7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B1A1057-23CF-CE23-BDAD-ACB823674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F9EF3E-116D-427F-1EB3-73C2BF841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48898F-876A-AAFA-DE95-0E26CFBEB4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0F4EDC6-3A26-5C58-130C-D33DAF4E8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38F97-7149-6DF6-8EBD-EC811B37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Slowly Changing Dimensions (SCD)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7C96D-99EA-3DA4-86D0-689978436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SCD Type 0 - Keine </a:t>
            </a:r>
            <a:r>
              <a:rPr lang="en-US" sz="1700" dirty="0" err="1">
                <a:ea typeface="Calibri"/>
                <a:cs typeface="Calibri"/>
              </a:rPr>
              <a:t>Änderungen</a:t>
            </a:r>
            <a:r>
              <a:rPr lang="en-US" sz="1700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ISBN, </a:t>
            </a:r>
            <a:r>
              <a:rPr lang="en-US" sz="1700" dirty="0" err="1">
                <a:ea typeface="Calibri"/>
                <a:cs typeface="Calibri"/>
              </a:rPr>
              <a:t>Erscheinungsjahr</a:t>
            </a:r>
            <a:r>
              <a:rPr lang="en-US" sz="1700" dirty="0">
                <a:ea typeface="Calibri"/>
                <a:cs typeface="Calibri"/>
              </a:rPr>
              <a:t> (</a:t>
            </a:r>
            <a:r>
              <a:rPr lang="en-US" sz="1700" dirty="0" err="1">
                <a:ea typeface="Calibri"/>
                <a:cs typeface="Calibri"/>
              </a:rPr>
              <a:t>unveränderlich</a:t>
            </a:r>
            <a:r>
              <a:rPr lang="en-US" sz="1700" dirty="0">
                <a:ea typeface="Calibri"/>
                <a:cs typeface="Calibri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SCD Type 1 - </a:t>
            </a:r>
            <a:r>
              <a:rPr lang="en-US" sz="1700" dirty="0" err="1">
                <a:ea typeface="Calibri"/>
                <a:cs typeface="Calibri"/>
              </a:rPr>
              <a:t>Überschreiben</a:t>
            </a:r>
            <a:r>
              <a:rPr lang="en-US" sz="1700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DIM_BUCH: Titel, </a:t>
            </a:r>
            <a:r>
              <a:rPr lang="en-US" sz="1700" dirty="0" err="1">
                <a:ea typeface="Calibri"/>
                <a:cs typeface="Calibri"/>
              </a:rPr>
              <a:t>Standort</a:t>
            </a:r>
            <a:r>
              <a:rPr lang="en-US" sz="1700" dirty="0">
                <a:ea typeface="Calibri"/>
                <a:cs typeface="Calibri"/>
              </a:rPr>
              <a:t>, </a:t>
            </a:r>
            <a:r>
              <a:rPr lang="en-US" sz="1700" dirty="0" err="1">
                <a:ea typeface="Calibri"/>
                <a:cs typeface="Calibri"/>
              </a:rPr>
              <a:t>Kategorie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 err="1">
                <a:ea typeface="Calibri"/>
                <a:cs typeface="Calibri"/>
              </a:rPr>
              <a:t>Begründung</a:t>
            </a:r>
            <a:r>
              <a:rPr lang="en-US" sz="1700" dirty="0">
                <a:ea typeface="Calibri"/>
                <a:cs typeface="Calibri"/>
              </a:rPr>
              <a:t>: </a:t>
            </a:r>
            <a:r>
              <a:rPr lang="en-US" sz="1700" dirty="0" err="1">
                <a:ea typeface="Calibri"/>
                <a:cs typeface="Calibri"/>
              </a:rPr>
              <a:t>Fehlerkorrektur</a:t>
            </a:r>
            <a:r>
              <a:rPr lang="en-US" sz="1700" dirty="0">
                <a:ea typeface="Calibri"/>
                <a:cs typeface="Calibri"/>
              </a:rPr>
              <a:t>, </a:t>
            </a:r>
            <a:r>
              <a:rPr lang="en-US" sz="1700" dirty="0" err="1">
                <a:ea typeface="Calibri"/>
                <a:cs typeface="Calibri"/>
              </a:rPr>
              <a:t>Historie</a:t>
            </a:r>
            <a:r>
              <a:rPr lang="en-US" sz="1700" dirty="0">
                <a:ea typeface="Calibri"/>
                <a:cs typeface="Calibri"/>
              </a:rPr>
              <a:t> irrelevant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SCD Type 2 - </a:t>
            </a:r>
            <a:r>
              <a:rPr lang="en-US" sz="1700" dirty="0" err="1">
                <a:ea typeface="Calibri"/>
                <a:cs typeface="Calibri"/>
              </a:rPr>
              <a:t>Historisierung</a:t>
            </a:r>
            <a:r>
              <a:rPr lang="en-US" sz="1700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DIM_MITGLIED: </a:t>
            </a:r>
            <a:r>
              <a:rPr lang="en-US" sz="1700" dirty="0" err="1">
                <a:ea typeface="Calibri"/>
                <a:cs typeface="Calibri"/>
              </a:rPr>
              <a:t>Mitgliedstyp</a:t>
            </a:r>
            <a:r>
              <a:rPr lang="en-US" sz="1700" dirty="0">
                <a:ea typeface="Calibri"/>
                <a:cs typeface="Calibri"/>
              </a:rPr>
              <a:t>, Status, Email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 err="1">
                <a:ea typeface="Calibri"/>
                <a:cs typeface="Calibri"/>
              </a:rPr>
              <a:t>Begründung</a:t>
            </a:r>
            <a:r>
              <a:rPr lang="en-US" sz="1700" dirty="0">
                <a:ea typeface="Calibri"/>
                <a:cs typeface="Calibri"/>
              </a:rPr>
              <a:t>: </a:t>
            </a:r>
            <a:r>
              <a:rPr lang="en-US" sz="1700" dirty="0" err="1">
                <a:ea typeface="Calibri"/>
                <a:cs typeface="Calibri"/>
              </a:rPr>
              <a:t>Historische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Analysen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erforderlich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• </a:t>
            </a:r>
            <a:r>
              <a:rPr lang="en-US" sz="1700" dirty="0" err="1">
                <a:ea typeface="Calibri"/>
                <a:cs typeface="Calibri"/>
              </a:rPr>
              <a:t>gueltig_von</a:t>
            </a:r>
            <a:r>
              <a:rPr lang="en-US" sz="1700" dirty="0">
                <a:ea typeface="Calibri"/>
                <a:cs typeface="Calibri"/>
              </a:rPr>
              <a:t>, </a:t>
            </a:r>
            <a:r>
              <a:rPr lang="en-US" sz="1700" dirty="0" err="1">
                <a:ea typeface="Calibri"/>
                <a:cs typeface="Calibri"/>
              </a:rPr>
              <a:t>gueltig_bis</a:t>
            </a:r>
            <a:r>
              <a:rPr lang="en-US" sz="1700" dirty="0">
                <a:ea typeface="Calibri"/>
                <a:cs typeface="Calibri"/>
              </a:rPr>
              <a:t> Felder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• </a:t>
            </a:r>
            <a:r>
              <a:rPr lang="en-US" sz="1700" dirty="0" err="1">
                <a:ea typeface="Calibri"/>
                <a:cs typeface="Calibri"/>
              </a:rPr>
              <a:t>ist_aktuell</a:t>
            </a:r>
            <a:r>
              <a:rPr lang="en-US" sz="1700" dirty="0">
                <a:ea typeface="Calibri"/>
                <a:cs typeface="Calibri"/>
              </a:rPr>
              <a:t> Flag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• </a:t>
            </a:r>
            <a:r>
              <a:rPr lang="en-US" sz="1700" dirty="0" err="1">
                <a:ea typeface="Calibri"/>
                <a:cs typeface="Calibri"/>
              </a:rPr>
              <a:t>Ermöglicht</a:t>
            </a:r>
            <a:r>
              <a:rPr lang="en-US" sz="1700" dirty="0">
                <a:ea typeface="Calibri"/>
                <a:cs typeface="Calibri"/>
              </a:rPr>
              <a:t> Point-in-Time </a:t>
            </a:r>
            <a:r>
              <a:rPr lang="en-US" sz="1700" dirty="0" err="1">
                <a:ea typeface="Calibri"/>
                <a:cs typeface="Calibri"/>
              </a:rPr>
              <a:t>Analysen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 err="1">
                <a:ea typeface="Calibri"/>
                <a:cs typeface="Calibri"/>
              </a:rPr>
              <a:t>Implementiert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im</a:t>
            </a:r>
            <a:r>
              <a:rPr lang="en-US" sz="1700" dirty="0">
                <a:ea typeface="Calibri"/>
                <a:cs typeface="Calibri"/>
              </a:rPr>
              <a:t> ETL-</a:t>
            </a:r>
            <a:r>
              <a:rPr lang="en-US" sz="1700" dirty="0" err="1">
                <a:ea typeface="Calibri"/>
                <a:cs typeface="Calibri"/>
              </a:rPr>
              <a:t>Prozess</a:t>
            </a:r>
            <a:endParaRPr lang="en-US" dirty="0" err="1"/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1F59F3-47B5-25A4-55BD-28018493A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2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BC81-2B41-C8C1-2BF6-35842C3BF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0B7B57-705F-9A49-040A-2EC3FE7F5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AD0B2-1A22-00D3-CBDB-FC31BE84C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89371-A43C-A603-A743-1D3D86076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2137EF-90E1-ABFA-3B84-7098E4D11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91851A-14EA-4E34-96F2-3AA526433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4D40049-0D6A-5FDE-634D-D3680C7CB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F10D2-D875-E9FC-C3BA-0517AD147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ETL-</a:t>
            </a:r>
            <a:r>
              <a:rPr lang="en-US" dirty="0" err="1"/>
              <a:t>Prozess</a:t>
            </a:r>
            <a:r>
              <a:rPr lang="en-US" dirty="0"/>
              <a:t> &amp;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DB1C-2B63-77EE-3EC9-7297191B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ETL-</a:t>
            </a:r>
            <a:r>
              <a:rPr lang="en-US" sz="1600" dirty="0" err="1">
                <a:ea typeface="Calibri"/>
                <a:cs typeface="Calibri"/>
              </a:rPr>
              <a:t>Implementierung</a:t>
            </a:r>
            <a:r>
              <a:rPr lang="en-US" sz="1600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Python-</a:t>
            </a:r>
            <a:r>
              <a:rPr lang="en-US" sz="1600" dirty="0" err="1">
                <a:ea typeface="Calibri"/>
                <a:cs typeface="Calibri"/>
              </a:rPr>
              <a:t>basiert</a:t>
            </a:r>
            <a:r>
              <a:rPr lang="en-US" sz="1600" dirty="0">
                <a:ea typeface="Calibri"/>
                <a:cs typeface="Calibri"/>
              </a:rPr>
              <a:t> (sqlite3)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Modularer</a:t>
            </a:r>
            <a:r>
              <a:rPr lang="en-US" sz="1600" dirty="0">
                <a:ea typeface="Calibri"/>
                <a:cs typeface="Calibri"/>
              </a:rPr>
              <a:t> Aufbau pro </a:t>
            </a:r>
            <a:r>
              <a:rPr lang="en-US" sz="1600" dirty="0" err="1">
                <a:ea typeface="Calibri"/>
                <a:cs typeface="Calibri"/>
              </a:rPr>
              <a:t>Tabelle</a:t>
            </a:r>
            <a:endParaRPr lang="en-US" sz="16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ETL-</a:t>
            </a:r>
            <a:r>
              <a:rPr lang="en-US" sz="1600" dirty="0" err="1">
                <a:ea typeface="Calibri"/>
                <a:cs typeface="Calibri"/>
              </a:rPr>
              <a:t>Ablauf</a:t>
            </a:r>
            <a:r>
              <a:rPr lang="en-US" sz="1600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1. Truncate </a:t>
            </a:r>
            <a:r>
              <a:rPr lang="en-US" sz="1600" dirty="0" err="1">
                <a:ea typeface="Calibri"/>
                <a:cs typeface="Calibri"/>
              </a:rPr>
              <a:t>bestehender</a:t>
            </a:r>
            <a:r>
              <a:rPr lang="en-US" sz="1600" dirty="0">
                <a:ea typeface="Calibri"/>
                <a:cs typeface="Calibri"/>
              </a:rPr>
              <a:t> DWH-</a:t>
            </a:r>
            <a:r>
              <a:rPr lang="en-US" sz="1600" dirty="0" err="1">
                <a:ea typeface="Calibri"/>
                <a:cs typeface="Calibri"/>
              </a:rPr>
              <a:t>Tabellen</a:t>
            </a:r>
            <a:endParaRPr lang="en-US" sz="160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2. DIM_ZEIT </a:t>
            </a:r>
            <a:r>
              <a:rPr lang="en-US" sz="1600" dirty="0" err="1">
                <a:ea typeface="Calibri"/>
                <a:cs typeface="Calibri"/>
              </a:rPr>
              <a:t>generieren</a:t>
            </a:r>
            <a:r>
              <a:rPr lang="en-US" sz="1600" dirty="0">
                <a:ea typeface="Calibri"/>
                <a:cs typeface="Calibri"/>
              </a:rPr>
              <a:t> (2020-2027)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3. DIM_BUCH laden (</a:t>
            </a:r>
            <a:r>
              <a:rPr lang="en-US" sz="1600" dirty="0" err="1">
                <a:ea typeface="Calibri"/>
                <a:cs typeface="Calibri"/>
              </a:rPr>
              <a:t>mit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Denormalisierung</a:t>
            </a:r>
            <a:r>
              <a:rPr lang="en-US" sz="1600" dirty="0">
                <a:ea typeface="Calibri"/>
                <a:cs typeface="Calibri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4. DIM_MITGLIED laden (SCD Type 2)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5. FACT_AUSLEIHE laden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6. FACT_RESERVIERUNG laden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7. ETL_LOG </a:t>
            </a:r>
            <a:r>
              <a:rPr lang="en-US" sz="1600" dirty="0" err="1">
                <a:ea typeface="Calibri"/>
                <a:cs typeface="Calibri"/>
              </a:rPr>
              <a:t>schreiben</a:t>
            </a:r>
            <a:endParaRPr lang="en-US" sz="16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Schedule: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Aktuell</a:t>
            </a:r>
            <a:r>
              <a:rPr lang="en-US" sz="1600" dirty="0">
                <a:ea typeface="Calibri"/>
                <a:cs typeface="Calibri"/>
              </a:rPr>
              <a:t>: </a:t>
            </a:r>
            <a:r>
              <a:rPr lang="en-US" sz="1600" dirty="0" err="1">
                <a:ea typeface="Calibri"/>
                <a:cs typeface="Calibri"/>
              </a:rPr>
              <a:t>Manueller</a:t>
            </a:r>
            <a:r>
              <a:rPr lang="en-US" sz="1600" dirty="0">
                <a:ea typeface="Calibri"/>
                <a:cs typeface="Calibri"/>
              </a:rPr>
              <a:t>/On-Demand </a:t>
            </a:r>
            <a:r>
              <a:rPr lang="en-US" sz="1600" dirty="0" err="1">
                <a:ea typeface="Calibri"/>
                <a:cs typeface="Calibri"/>
              </a:rPr>
              <a:t>Prozess</a:t>
            </a:r>
            <a:endParaRPr lang="en-US" sz="160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Empfohlen</a:t>
            </a:r>
            <a:r>
              <a:rPr lang="en-US" sz="1600" dirty="0">
                <a:ea typeface="Calibri"/>
                <a:cs typeface="Calibri"/>
              </a:rPr>
              <a:t>: </a:t>
            </a:r>
            <a:r>
              <a:rPr lang="en-US" sz="1600" dirty="0" err="1">
                <a:ea typeface="Calibri"/>
                <a:cs typeface="Calibri"/>
              </a:rPr>
              <a:t>Nächtlicher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als</a:t>
            </a:r>
            <a:r>
              <a:rPr lang="en-US" sz="1600" dirty="0">
                <a:ea typeface="Calibri"/>
                <a:cs typeface="Calibri"/>
              </a:rPr>
              <a:t> Batch-Lauf (</a:t>
            </a:r>
            <a:r>
              <a:rPr lang="en-US" sz="1600" dirty="0" err="1">
                <a:ea typeface="Calibri"/>
                <a:cs typeface="Calibri"/>
              </a:rPr>
              <a:t>z.B.</a:t>
            </a:r>
            <a:r>
              <a:rPr lang="en-US" sz="1600" dirty="0">
                <a:ea typeface="Calibri"/>
                <a:cs typeface="Calibri"/>
              </a:rPr>
              <a:t> 2:00 Uhr) </a:t>
            </a:r>
            <a:r>
              <a:rPr lang="en-US" sz="1600" dirty="0" err="1">
                <a:ea typeface="Calibri"/>
                <a:cs typeface="Calibri"/>
              </a:rPr>
              <a:t>mit</a:t>
            </a:r>
            <a:r>
              <a:rPr lang="en-US" sz="1600" dirty="0">
                <a:ea typeface="Calibri"/>
                <a:cs typeface="Calibri"/>
              </a:rPr>
              <a:t> Hilf Windows Task Scheduler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5E78AB-95AC-9670-62AB-A4F9F7A16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41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FB58-C300-564F-BDC8-3BE46FD2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7BB442-687D-8FA4-9A3E-DCE63CBF3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21C048-F058-0A37-189E-EB6EFBA1B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25FE0A-8847-8F3D-5BCF-E4E709519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87BDB8-844B-D098-F2D7-72F010375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4BAF0E-CA26-5F7F-2A25-EFA2048F8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E2A574C-460B-1884-BB15-36E84388D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D787F-248C-BD50-D065-EF830328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Was </a:t>
            </a:r>
            <a:r>
              <a:rPr lang="en-US" dirty="0" err="1"/>
              <a:t>haben</a:t>
            </a:r>
            <a:r>
              <a:rPr lang="en-US" dirty="0"/>
              <a:t> </a:t>
            </a:r>
            <a:r>
              <a:rPr lang="en-US" dirty="0" err="1"/>
              <a:t>wir</a:t>
            </a:r>
            <a:r>
              <a:rPr lang="en-US" dirty="0"/>
              <a:t> </a:t>
            </a:r>
            <a:r>
              <a:rPr lang="en-US" dirty="0" err="1"/>
              <a:t>gelernt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0FA51-6984-6B3E-FBB8-DD0A00C8D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00" b="1" dirty="0" err="1">
                <a:ea typeface="Calibri"/>
                <a:cs typeface="Calibri"/>
              </a:rPr>
              <a:t>Fachliche</a:t>
            </a:r>
            <a:r>
              <a:rPr lang="en-US" sz="1700" b="1" dirty="0">
                <a:ea typeface="Calibri"/>
                <a:cs typeface="Calibri"/>
              </a:rPr>
              <a:t> </a:t>
            </a:r>
            <a:r>
              <a:rPr lang="en-US" sz="1700" b="1" dirty="0" err="1">
                <a:ea typeface="Calibri"/>
                <a:cs typeface="Calibri"/>
              </a:rPr>
              <a:t>Erkenntnisse</a:t>
            </a:r>
            <a:r>
              <a:rPr lang="en-US" sz="1700" b="1" dirty="0">
                <a:ea typeface="Calibri"/>
                <a:cs typeface="Calibri"/>
              </a:rPr>
              <a:t>: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 err="1">
                <a:ea typeface="Calibri"/>
                <a:cs typeface="Calibri"/>
              </a:rPr>
              <a:t>Unterschied</a:t>
            </a:r>
            <a:r>
              <a:rPr lang="en-US" sz="1700" dirty="0">
                <a:ea typeface="Calibri"/>
                <a:cs typeface="Calibri"/>
              </a:rPr>
              <a:t> OLTP vs. DWH-Design in der Praxis </a:t>
            </a:r>
            <a:r>
              <a:rPr lang="en-US" sz="1700" dirty="0" err="1">
                <a:ea typeface="Calibri"/>
                <a:cs typeface="Calibri"/>
              </a:rPr>
              <a:t>verstanden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Dimensional Modeling (Snowflake Schema)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MER Modeling 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Slowly Changing Dimensions in der Praxis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err="1">
                <a:ea typeface="Calibri"/>
                <a:cs typeface="Calibri"/>
              </a:rPr>
              <a:t>Denormalisierung</a:t>
            </a:r>
            <a:r>
              <a:rPr lang="en-US" sz="1700" dirty="0">
                <a:ea typeface="Calibri"/>
                <a:cs typeface="Calibri"/>
              </a:rPr>
              <a:t> für Performance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b="1" err="1">
                <a:ea typeface="Calibri"/>
                <a:cs typeface="Calibri"/>
              </a:rPr>
              <a:t>Technische</a:t>
            </a:r>
            <a:r>
              <a:rPr lang="en-US" sz="1700" b="1" dirty="0">
                <a:ea typeface="Calibri"/>
                <a:cs typeface="Calibri"/>
              </a:rPr>
              <a:t> Skills: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ETL-</a:t>
            </a:r>
            <a:r>
              <a:rPr lang="en-US" sz="1700" err="1">
                <a:ea typeface="Calibri"/>
                <a:cs typeface="Calibri"/>
              </a:rPr>
              <a:t>Entwicklung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err="1">
                <a:ea typeface="Calibri"/>
                <a:cs typeface="Calibri"/>
              </a:rPr>
              <a:t>mit</a:t>
            </a:r>
            <a:r>
              <a:rPr lang="en-US" sz="1700" dirty="0">
                <a:ea typeface="Calibri"/>
                <a:cs typeface="Calibri"/>
              </a:rPr>
              <a:t> Python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SQL-</a:t>
            </a:r>
            <a:r>
              <a:rPr lang="en-US" sz="1700" err="1">
                <a:ea typeface="Calibri"/>
                <a:cs typeface="Calibri"/>
              </a:rPr>
              <a:t>Optimierung</a:t>
            </a:r>
            <a:r>
              <a:rPr lang="en-US" sz="1700" dirty="0">
                <a:ea typeface="Calibri"/>
                <a:cs typeface="Calibri"/>
              </a:rPr>
              <a:t> für </a:t>
            </a:r>
            <a:r>
              <a:rPr lang="en-US" sz="1700" err="1">
                <a:ea typeface="Calibri"/>
                <a:cs typeface="Calibri"/>
              </a:rPr>
              <a:t>Analytische</a:t>
            </a:r>
            <a:r>
              <a:rPr lang="en-US" sz="1700" dirty="0">
                <a:ea typeface="Calibri"/>
                <a:cs typeface="Calibri"/>
              </a:rPr>
              <a:t> Queries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err="1">
                <a:ea typeface="Calibri"/>
                <a:cs typeface="Calibri"/>
              </a:rPr>
              <a:t>Datenmodellierung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err="1">
                <a:ea typeface="Calibri"/>
                <a:cs typeface="Calibri"/>
              </a:rPr>
              <a:t>mit</a:t>
            </a:r>
            <a:r>
              <a:rPr lang="en-US" sz="1700" dirty="0">
                <a:ea typeface="Calibri"/>
                <a:cs typeface="Calibri"/>
              </a:rPr>
              <a:t> Draw.io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Surrogate Keys vs. Natural Keys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b="1" err="1">
                <a:ea typeface="Calibri"/>
                <a:cs typeface="Calibri"/>
              </a:rPr>
              <a:t>Projektmanagement</a:t>
            </a:r>
            <a:r>
              <a:rPr lang="en-US" sz="1700" b="1" dirty="0">
                <a:ea typeface="Calibri"/>
                <a:cs typeface="Calibri"/>
              </a:rPr>
              <a:t>: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sz="1700" err="1">
                <a:ea typeface="Calibri"/>
                <a:cs typeface="Calibri"/>
              </a:rPr>
              <a:t>Strukturierte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err="1">
                <a:ea typeface="Calibri"/>
                <a:cs typeface="Calibri"/>
              </a:rPr>
              <a:t>Dokumentation</a:t>
            </a:r>
            <a:endParaRPr lang="en-US" sz="17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Iterative </a:t>
            </a:r>
            <a:r>
              <a:rPr lang="en-US" sz="1700" err="1">
                <a:ea typeface="Calibri"/>
                <a:cs typeface="Calibri"/>
              </a:rPr>
              <a:t>Entwicklung</a:t>
            </a:r>
            <a:endParaRPr lang="en-US" sz="1700">
              <a:ea typeface="Calibri"/>
              <a:cs typeface="Calibri"/>
            </a:endParaRPr>
          </a:p>
          <a:p>
            <a:pPr lvl="1">
              <a:spcBef>
                <a:spcPts val="0"/>
              </a:spcBef>
              <a:buChar char="•"/>
            </a:pPr>
            <a:r>
              <a:rPr lang="en-US" sz="1700" dirty="0">
                <a:ea typeface="Calibri"/>
                <a:cs typeface="Calibri"/>
              </a:rPr>
              <a:t>Requirements-</a:t>
            </a:r>
            <a:r>
              <a:rPr lang="en-US" sz="1700" err="1">
                <a:ea typeface="Calibri"/>
                <a:cs typeface="Calibri"/>
              </a:rPr>
              <a:t>Analyse</a:t>
            </a:r>
            <a:r>
              <a:rPr lang="en-US" sz="1700" dirty="0">
                <a:ea typeface="Calibri"/>
                <a:cs typeface="Calibri"/>
              </a:rPr>
              <a:t> für DWH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75E0D3-E1F4-5493-F638-402249410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959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A9EF-6889-FC6D-B384-ED9A995A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29BDB8-F7F7-DC06-31DB-E5F6DDCF8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60E251-EDC6-CE50-D853-AF95D739E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81D84D-CF3A-954B-D666-70050B8E9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F94E0A-87D6-6AE6-2C5C-B39A545ED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171190-54EB-D8E8-9BD1-56143A201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440220A-6D93-3287-F637-1A4B4954F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EDED5-AB8C-8960-62DF-BD6705E5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Projekt-Highlights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75448-72C0-BF44-579E-B1AD97F5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00" b="1" dirty="0" err="1">
                <a:ea typeface="Calibri"/>
                <a:cs typeface="Calibri"/>
              </a:rPr>
              <a:t>Technische</a:t>
            </a:r>
            <a:r>
              <a:rPr lang="en-US" sz="1700" b="1" dirty="0">
                <a:ea typeface="Calibri"/>
                <a:cs typeface="Calibri"/>
              </a:rPr>
              <a:t> Highlights: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 </a:t>
            </a:r>
            <a:r>
              <a:rPr lang="en-US" sz="1700" dirty="0" err="1">
                <a:ea typeface="Calibri"/>
                <a:cs typeface="Calibri"/>
              </a:rPr>
              <a:t>Vollständig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funktionsfähiges</a:t>
            </a:r>
            <a:r>
              <a:rPr lang="en-US" sz="1700" dirty="0">
                <a:ea typeface="Calibri"/>
                <a:cs typeface="Calibri"/>
              </a:rPr>
              <a:t> DWH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 2.920 </a:t>
            </a:r>
            <a:r>
              <a:rPr lang="en-US" sz="1700" dirty="0" err="1">
                <a:ea typeface="Calibri"/>
                <a:cs typeface="Calibri"/>
              </a:rPr>
              <a:t>Datensätze</a:t>
            </a:r>
            <a:r>
              <a:rPr lang="en-US" sz="1700" dirty="0">
                <a:ea typeface="Calibri"/>
                <a:cs typeface="Calibri"/>
              </a:rPr>
              <a:t> in DIM_ZEIT (8 Jahre)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 ETL-</a:t>
            </a:r>
            <a:r>
              <a:rPr lang="en-US" sz="1700" dirty="0" err="1">
                <a:ea typeface="Calibri"/>
                <a:cs typeface="Calibri"/>
              </a:rPr>
              <a:t>Prozess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mit</a:t>
            </a:r>
            <a:r>
              <a:rPr lang="en-US" sz="1700" dirty="0">
                <a:ea typeface="Calibri"/>
                <a:cs typeface="Calibri"/>
              </a:rPr>
              <a:t> Logging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 </a:t>
            </a:r>
            <a:r>
              <a:rPr lang="en-US" sz="1700" dirty="0" err="1">
                <a:ea typeface="Calibri"/>
                <a:cs typeface="Calibri"/>
              </a:rPr>
              <a:t>Analytische</a:t>
            </a:r>
            <a:r>
              <a:rPr lang="en-US" sz="1700" dirty="0">
                <a:ea typeface="Calibri"/>
                <a:cs typeface="Calibri"/>
              </a:rPr>
              <a:t> Views für Business Questions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b="1" dirty="0">
                <a:ea typeface="Calibri"/>
                <a:cs typeface="Calibri"/>
              </a:rPr>
              <a:t>Design-Highlights: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 Snowflake Schema </a:t>
            </a:r>
            <a:r>
              <a:rPr lang="en-US" sz="1700" dirty="0" err="1">
                <a:ea typeface="Calibri"/>
                <a:cs typeface="Calibri"/>
              </a:rPr>
              <a:t>mit</a:t>
            </a:r>
            <a:r>
              <a:rPr lang="en-US" sz="1700" dirty="0">
                <a:ea typeface="Calibri"/>
                <a:cs typeface="Calibri"/>
              </a:rPr>
              <a:t> 3 </a:t>
            </a:r>
            <a:r>
              <a:rPr lang="en-US" sz="1700" dirty="0" err="1">
                <a:ea typeface="Calibri"/>
                <a:cs typeface="Calibri"/>
              </a:rPr>
              <a:t>Dimensionen</a:t>
            </a:r>
            <a:r>
              <a:rPr lang="en-US" sz="1700" dirty="0">
                <a:ea typeface="Calibri"/>
                <a:cs typeface="Calibri"/>
              </a:rPr>
              <a:t>, 2 Facts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 SCD Type 2 für </a:t>
            </a:r>
            <a:r>
              <a:rPr lang="en-US" sz="1700" dirty="0" err="1">
                <a:ea typeface="Calibri"/>
                <a:cs typeface="Calibri"/>
              </a:rPr>
              <a:t>Mitglieder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implementiert</a:t>
            </a:r>
            <a:endParaRPr lang="en-US" sz="17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 Transaction &amp; Snapshot Fact Tables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 </a:t>
            </a:r>
            <a:r>
              <a:rPr lang="en-US" sz="1700" dirty="0" err="1">
                <a:ea typeface="Calibri"/>
                <a:cs typeface="Calibri"/>
              </a:rPr>
              <a:t>Zeitdimension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mit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Semesterhierarchie</a:t>
            </a: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7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b="1" dirty="0" err="1">
                <a:ea typeface="Calibri"/>
                <a:cs typeface="Calibri"/>
              </a:rPr>
              <a:t>Dokumentation</a:t>
            </a:r>
            <a:r>
              <a:rPr lang="en-US" sz="1700" b="1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 Chen-ER und ER-</a:t>
            </a:r>
            <a:r>
              <a:rPr lang="en-US" sz="1700" dirty="0" err="1">
                <a:ea typeface="Calibri"/>
                <a:cs typeface="Calibri"/>
              </a:rPr>
              <a:t>Diagramm</a:t>
            </a:r>
          </a:p>
          <a:p>
            <a:pPr lvl="1">
              <a:buNone/>
            </a:pPr>
            <a:r>
              <a:rPr lang="en-US" sz="1700" dirty="0">
                <a:ea typeface="Calibri"/>
                <a:cs typeface="Calibri"/>
              </a:rPr>
              <a:t>✓ MER und </a:t>
            </a:r>
            <a:r>
              <a:rPr lang="en-US" sz="1700" dirty="0" err="1">
                <a:ea typeface="Calibri"/>
                <a:cs typeface="Calibri"/>
              </a:rPr>
              <a:t>logesches</a:t>
            </a:r>
            <a:r>
              <a:rPr lang="en-US" sz="1700" dirty="0">
                <a:ea typeface="Calibri"/>
                <a:cs typeface="Calibri"/>
              </a:rPr>
              <a:t> </a:t>
            </a:r>
            <a:r>
              <a:rPr lang="en-US" sz="1700" dirty="0" err="1">
                <a:ea typeface="Calibri"/>
                <a:cs typeface="Calibri"/>
              </a:rPr>
              <a:t>Diagramm</a:t>
            </a:r>
            <a:endParaRPr lang="en-US" sz="17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 </a:t>
            </a:r>
            <a:r>
              <a:rPr lang="en-US" sz="1700" dirty="0" err="1">
                <a:ea typeface="Calibri"/>
                <a:cs typeface="Calibri"/>
              </a:rPr>
              <a:t>Normalisierungsanalyse</a:t>
            </a:r>
            <a:r>
              <a:rPr lang="en-US" sz="1700" dirty="0">
                <a:ea typeface="Calibri"/>
                <a:cs typeface="Calibri"/>
              </a:rPr>
              <a:t> bis 3NF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00" dirty="0">
                <a:ea typeface="Calibri"/>
                <a:cs typeface="Calibri"/>
              </a:rPr>
              <a:t>✓ SCD-</a:t>
            </a:r>
            <a:r>
              <a:rPr lang="en-US" sz="1700" dirty="0" err="1">
                <a:ea typeface="Calibri"/>
                <a:cs typeface="Calibri"/>
              </a:rPr>
              <a:t>Konzept</a:t>
            </a:r>
            <a:endParaRPr lang="en-US" dirty="0" err="1"/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CFBFC9-AF0A-9CAC-A1BB-527762E73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790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5AAD4-E6EB-FAFF-A272-90D75AA9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1DEC10-9E61-2D37-7713-737B767CB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9DF2D9-5EAC-AE5B-B63D-EC8FE7A0D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6E0472-A361-C82B-9F92-E3291518C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E0375A-2C99-C9BF-53DD-345BC7188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D47794-57CF-26D7-D565-E67ABE91C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836C4FB-81E3-DC6B-9C62-3CD7EC5B9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3E426-A629-13F4-4BFE-9150F111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dirty="0" err="1"/>
              <a:t>Probleme</a:t>
            </a:r>
            <a:r>
              <a:rPr lang="en-US" dirty="0"/>
              <a:t> &amp; </a:t>
            </a:r>
            <a:r>
              <a:rPr lang="en-US" dirty="0" err="1"/>
              <a:t>Lösungen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6D774-1005-F698-A31F-E10C56EF9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Problem 1: Surrogate Key Management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Herausforderung</a:t>
            </a:r>
            <a:r>
              <a:rPr lang="en-US" sz="1600" dirty="0">
                <a:ea typeface="Calibri"/>
                <a:cs typeface="Calibri"/>
              </a:rPr>
              <a:t>: Lookup von Foreign Keys </a:t>
            </a:r>
            <a:r>
              <a:rPr lang="en-US" sz="1600" dirty="0" err="1">
                <a:ea typeface="Calibri"/>
                <a:cs typeface="Calibri"/>
              </a:rPr>
              <a:t>im</a:t>
            </a:r>
            <a:r>
              <a:rPr lang="en-US" sz="1600" dirty="0">
                <a:ea typeface="Calibri"/>
                <a:cs typeface="Calibri"/>
              </a:rPr>
              <a:t> ETL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Lösung</a:t>
            </a:r>
            <a:r>
              <a:rPr lang="en-US" sz="1600" dirty="0">
                <a:ea typeface="Calibri"/>
                <a:cs typeface="Calibri"/>
              </a:rPr>
              <a:t>: AUTOINCREMENT + Index auf </a:t>
            </a:r>
            <a:r>
              <a:rPr lang="en-US" sz="1600" dirty="0" err="1">
                <a:ea typeface="Calibri"/>
                <a:cs typeface="Calibri"/>
              </a:rPr>
              <a:t>business_id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Problem 2: </a:t>
            </a:r>
            <a:r>
              <a:rPr lang="en-US" sz="1600" dirty="0" err="1">
                <a:ea typeface="Calibri"/>
                <a:cs typeface="Calibri"/>
              </a:rPr>
              <a:t>Mehrdeutige</a:t>
            </a:r>
            <a:r>
              <a:rPr lang="en-US" sz="1600" dirty="0">
                <a:ea typeface="Calibri"/>
                <a:cs typeface="Calibri"/>
              </a:rPr>
              <a:t> Autor-</a:t>
            </a:r>
            <a:r>
              <a:rPr lang="en-US" sz="1600" dirty="0" err="1">
                <a:ea typeface="Calibri"/>
                <a:cs typeface="Calibri"/>
              </a:rPr>
              <a:t>Zuordnung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Herausforderung</a:t>
            </a:r>
            <a:r>
              <a:rPr lang="en-US" sz="1600" dirty="0">
                <a:ea typeface="Calibri"/>
                <a:cs typeface="Calibri"/>
              </a:rPr>
              <a:t>: N:M </a:t>
            </a:r>
            <a:r>
              <a:rPr lang="en-US" sz="1600" dirty="0" err="1">
                <a:ea typeface="Calibri"/>
                <a:cs typeface="Calibri"/>
              </a:rPr>
              <a:t>Beziehung</a:t>
            </a:r>
            <a:r>
              <a:rPr lang="en-US" sz="1600" dirty="0">
                <a:ea typeface="Calibri"/>
                <a:cs typeface="Calibri"/>
              </a:rPr>
              <a:t> Buch-Autor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Lösung</a:t>
            </a:r>
            <a:r>
              <a:rPr lang="en-US" sz="1600" dirty="0">
                <a:ea typeface="Calibri"/>
                <a:cs typeface="Calibri"/>
              </a:rPr>
              <a:t>: </a:t>
            </a:r>
            <a:r>
              <a:rPr lang="en-US" sz="1600" dirty="0" err="1">
                <a:ea typeface="Calibri"/>
                <a:cs typeface="Calibri"/>
              </a:rPr>
              <a:t>Autoren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konkateniert</a:t>
            </a:r>
            <a:r>
              <a:rPr lang="en-US" sz="1600" dirty="0">
                <a:ea typeface="Calibri"/>
                <a:cs typeface="Calibri"/>
              </a:rPr>
              <a:t> in DIM_BUCH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• </a:t>
            </a:r>
            <a:r>
              <a:rPr lang="en-US" sz="1600" dirty="0" err="1">
                <a:ea typeface="Calibri"/>
                <a:cs typeface="Calibri"/>
              </a:rPr>
              <a:t>autor_name</a:t>
            </a:r>
            <a:r>
              <a:rPr lang="en-US" sz="1600" dirty="0">
                <a:ea typeface="Calibri"/>
                <a:cs typeface="Calibri"/>
              </a:rPr>
              <a:t> für </a:t>
            </a:r>
            <a:r>
              <a:rPr lang="en-US" sz="1600" dirty="0" err="1">
                <a:ea typeface="Calibri"/>
                <a:cs typeface="Calibri"/>
              </a:rPr>
              <a:t>Anzeige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• </a:t>
            </a:r>
            <a:r>
              <a:rPr lang="en-US" sz="1600" dirty="0" err="1">
                <a:ea typeface="Calibri"/>
                <a:cs typeface="Calibri"/>
              </a:rPr>
              <a:t>hauptautor_nachname</a:t>
            </a:r>
            <a:r>
              <a:rPr lang="en-US" sz="1600" dirty="0">
                <a:ea typeface="Calibri"/>
                <a:cs typeface="Calibri"/>
              </a:rPr>
              <a:t> für </a:t>
            </a:r>
            <a:r>
              <a:rPr lang="en-US" sz="1600" dirty="0" err="1">
                <a:ea typeface="Calibri"/>
                <a:cs typeface="Calibri"/>
              </a:rPr>
              <a:t>Sortierung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Problem 3: SCD Type 2 Performance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Herausforderung</a:t>
            </a:r>
            <a:r>
              <a:rPr lang="en-US" sz="1600" dirty="0">
                <a:ea typeface="Calibri"/>
                <a:cs typeface="Calibri"/>
              </a:rPr>
              <a:t>: Lookup der </a:t>
            </a:r>
            <a:r>
              <a:rPr lang="en-US" sz="1600" dirty="0" err="1">
                <a:ea typeface="Calibri"/>
                <a:cs typeface="Calibri"/>
              </a:rPr>
              <a:t>aktuellen</a:t>
            </a:r>
            <a:r>
              <a:rPr lang="en-US" sz="1600" dirty="0">
                <a:ea typeface="Calibri"/>
                <a:cs typeface="Calibri"/>
              </a:rPr>
              <a:t> Version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Lösung</a:t>
            </a:r>
            <a:r>
              <a:rPr lang="en-US" sz="1600" dirty="0">
                <a:ea typeface="Calibri"/>
                <a:cs typeface="Calibri"/>
              </a:rPr>
              <a:t>: </a:t>
            </a:r>
            <a:r>
              <a:rPr lang="en-US" sz="1600" dirty="0" err="1">
                <a:ea typeface="Calibri"/>
                <a:cs typeface="Calibri"/>
              </a:rPr>
              <a:t>ist_aktuell</a:t>
            </a:r>
            <a:r>
              <a:rPr lang="en-US" sz="1600" dirty="0">
                <a:ea typeface="Calibri"/>
                <a:cs typeface="Calibri"/>
              </a:rPr>
              <a:t> Flag + Index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Problem 4: ETL </a:t>
            </a:r>
            <a:r>
              <a:rPr lang="en-US" sz="1600" dirty="0" err="1">
                <a:ea typeface="Calibri"/>
                <a:cs typeface="Calibri"/>
              </a:rPr>
              <a:t>Fehlerbehandlung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Herausforderung</a:t>
            </a:r>
            <a:r>
              <a:rPr lang="en-US" sz="1600" dirty="0">
                <a:ea typeface="Calibri"/>
                <a:cs typeface="Calibri"/>
              </a:rPr>
              <a:t>: </a:t>
            </a:r>
            <a:r>
              <a:rPr lang="en-US" sz="1600" dirty="0" err="1">
                <a:ea typeface="Calibri"/>
                <a:cs typeface="Calibri"/>
              </a:rPr>
              <a:t>Fehlende</a:t>
            </a:r>
            <a:r>
              <a:rPr lang="en-US" sz="1600" dirty="0">
                <a:ea typeface="Calibri"/>
                <a:cs typeface="Calibri"/>
              </a:rPr>
              <a:t> Dimension-</a:t>
            </a:r>
            <a:r>
              <a:rPr lang="en-US" sz="1600" dirty="0" err="1">
                <a:ea typeface="Calibri"/>
                <a:cs typeface="Calibri"/>
              </a:rPr>
              <a:t>Referenzen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Lösung</a:t>
            </a:r>
            <a:r>
              <a:rPr lang="en-US" sz="1600" dirty="0">
                <a:ea typeface="Calibri"/>
                <a:cs typeface="Calibri"/>
              </a:rPr>
              <a:t>: ETL_LOG </a:t>
            </a:r>
            <a:r>
              <a:rPr lang="en-US" sz="1600" dirty="0" err="1">
                <a:ea typeface="Calibri"/>
                <a:cs typeface="Calibri"/>
              </a:rPr>
              <a:t>Tabelle</a:t>
            </a:r>
            <a:r>
              <a:rPr lang="en-US" sz="1600" dirty="0">
                <a:ea typeface="Calibri"/>
                <a:cs typeface="Calibri"/>
              </a:rPr>
              <a:t> + Skip-Logik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E5A401-695E-5A8E-609F-BAE43DBA7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9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9C10-AFF6-285C-920B-5D7BBFEAA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723717-7A62-125E-F965-98946E360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2C8712-A598-5377-9FB6-F4E8E1B6C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2E08C4-F4F3-CF53-EF78-5670CA600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0F350F-D50A-CB3A-0FBF-E79C71410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9F7708-8488-08EF-0217-2BA963878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8877AB1-2C3D-4DF4-A44F-67DB325C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3B9B9-9163-0196-3C19-9A3BB9FC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Tipps für </a:t>
            </a:r>
            <a:r>
              <a:rPr lang="en-US" dirty="0" err="1"/>
              <a:t>Kollegen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F0BA2-52CA-AF01-CDA3-B7CFE13D8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5195"/>
            <a:ext cx="7455989" cy="3803641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Design-Phase: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⚠ Erst Business Requirements, </a:t>
            </a:r>
            <a:r>
              <a:rPr lang="en-US" sz="1600" dirty="0" err="1">
                <a:ea typeface="Calibri"/>
                <a:cs typeface="Calibri"/>
              </a:rPr>
              <a:t>dann</a:t>
            </a:r>
            <a:r>
              <a:rPr lang="en-US" sz="1600" dirty="0">
                <a:ea typeface="Calibri"/>
                <a:cs typeface="Calibri"/>
              </a:rPr>
              <a:t> Modell!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⚠ Star Schema != ER-Modell - </a:t>
            </a:r>
            <a:r>
              <a:rPr lang="en-US" sz="1600" dirty="0" err="1">
                <a:ea typeface="Calibri"/>
                <a:cs typeface="Calibri"/>
              </a:rPr>
              <a:t>umdenken</a:t>
            </a:r>
            <a:r>
              <a:rPr lang="en-US" sz="1600" dirty="0">
                <a:ea typeface="Calibri"/>
                <a:cs typeface="Calibri"/>
              </a:rPr>
              <a:t>!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⚠ SCD-</a:t>
            </a:r>
            <a:r>
              <a:rPr lang="en-US" sz="1600" dirty="0" err="1">
                <a:ea typeface="Calibri"/>
                <a:cs typeface="Calibri"/>
              </a:rPr>
              <a:t>Strategie</a:t>
            </a:r>
            <a:r>
              <a:rPr lang="en-US" sz="1600" dirty="0">
                <a:ea typeface="Calibri"/>
                <a:cs typeface="Calibri"/>
              </a:rPr>
              <a:t> VOR </a:t>
            </a:r>
            <a:r>
              <a:rPr lang="en-US" sz="1600" dirty="0" err="1">
                <a:ea typeface="Calibri"/>
                <a:cs typeface="Calibri"/>
              </a:rPr>
              <a:t>Implementierung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klären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Implementierung</a:t>
            </a:r>
            <a:r>
              <a:rPr lang="en-US" sz="1600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⚠ Surrogate Keys IMMER </a:t>
            </a:r>
            <a:r>
              <a:rPr lang="en-US" sz="1600" dirty="0" err="1">
                <a:ea typeface="Calibri"/>
                <a:cs typeface="Calibri"/>
              </a:rPr>
              <a:t>mit</a:t>
            </a:r>
            <a:r>
              <a:rPr lang="en-US" sz="1600" dirty="0">
                <a:ea typeface="Calibri"/>
                <a:cs typeface="Calibri"/>
              </a:rPr>
              <a:t> AUTOINCREMENT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⚠ </a:t>
            </a:r>
            <a:r>
              <a:rPr lang="en-US" sz="1600" dirty="0" err="1">
                <a:ea typeface="Calibri"/>
                <a:cs typeface="Calibri"/>
              </a:rPr>
              <a:t>Indizes</a:t>
            </a:r>
            <a:r>
              <a:rPr lang="en-US" sz="1600" dirty="0">
                <a:ea typeface="Calibri"/>
                <a:cs typeface="Calibri"/>
              </a:rPr>
              <a:t> auf FK und </a:t>
            </a:r>
            <a:r>
              <a:rPr lang="en-US" sz="1600" dirty="0" err="1">
                <a:ea typeface="Calibri"/>
                <a:cs typeface="Calibri"/>
              </a:rPr>
              <a:t>ist_aktuell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setzen</a:t>
            </a:r>
            <a:endParaRPr lang="en-US" sz="16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⚠ ETL-Logging von Anfang an </a:t>
            </a:r>
            <a:r>
              <a:rPr lang="en-US" sz="1600" dirty="0" err="1">
                <a:ea typeface="Calibri"/>
                <a:cs typeface="Calibri"/>
              </a:rPr>
              <a:t>einbauen</a:t>
            </a:r>
            <a:endParaRPr lang="en-US" sz="16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⚠ </a:t>
            </a:r>
            <a:r>
              <a:rPr lang="en-US" sz="1600" dirty="0" err="1">
                <a:ea typeface="Calibri"/>
                <a:cs typeface="Calibri"/>
              </a:rPr>
              <a:t>Testdaten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frühzeitig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generieren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ea typeface="Calibri"/>
                <a:cs typeface="Calibri"/>
              </a:rPr>
              <a:t>Häufige</a:t>
            </a:r>
            <a:r>
              <a:rPr lang="en-US" sz="1600" dirty="0">
                <a:ea typeface="Calibri"/>
                <a:cs typeface="Calibri"/>
              </a:rPr>
              <a:t> Fehler </a:t>
            </a:r>
            <a:r>
              <a:rPr lang="en-US" sz="1600" dirty="0" err="1">
                <a:ea typeface="Calibri"/>
                <a:cs typeface="Calibri"/>
              </a:rPr>
              <a:t>vermeiden</a:t>
            </a:r>
            <a:r>
              <a:rPr lang="en-US" sz="1600" dirty="0">
                <a:ea typeface="Calibri"/>
                <a:cs typeface="Calibri"/>
              </a:rPr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✗ NICHT: Natural Keys </a:t>
            </a:r>
            <a:r>
              <a:rPr lang="en-US" sz="1600" dirty="0" err="1">
                <a:ea typeface="Calibri"/>
                <a:cs typeface="Calibri"/>
              </a:rPr>
              <a:t>als</a:t>
            </a:r>
            <a:r>
              <a:rPr lang="en-US" sz="1600" dirty="0">
                <a:ea typeface="Calibri"/>
                <a:cs typeface="Calibri"/>
              </a:rPr>
              <a:t> Primary Key in DWH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✗ NICHT: </a:t>
            </a:r>
            <a:r>
              <a:rPr lang="en-US" sz="1600" dirty="0" err="1">
                <a:ea typeface="Calibri"/>
                <a:cs typeface="Calibri"/>
              </a:rPr>
              <a:t>Normalisierung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im</a:t>
            </a:r>
            <a:r>
              <a:rPr lang="en-US" sz="1600" dirty="0">
                <a:ea typeface="Calibri"/>
                <a:cs typeface="Calibri"/>
              </a:rPr>
              <a:t> DWH-Schema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✗ NICHT: SCD </a:t>
            </a:r>
            <a:r>
              <a:rPr lang="en-US" sz="1600" dirty="0" err="1">
                <a:ea typeface="Calibri"/>
                <a:cs typeface="Calibri"/>
              </a:rPr>
              <a:t>ohne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gueltig_von</a:t>
            </a:r>
            <a:r>
              <a:rPr lang="en-US" sz="1600" dirty="0">
                <a:ea typeface="Calibri"/>
                <a:cs typeface="Calibri"/>
              </a:rPr>
              <a:t>/</a:t>
            </a:r>
            <a:r>
              <a:rPr lang="en-US" sz="1600" dirty="0" err="1">
                <a:ea typeface="Calibri"/>
                <a:cs typeface="Calibri"/>
              </a:rPr>
              <a:t>gueltig_bis</a:t>
            </a:r>
            <a:endParaRPr lang="en-US" sz="16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✗ NICHT: Facts </a:t>
            </a:r>
            <a:r>
              <a:rPr lang="en-US" sz="1600" dirty="0" err="1">
                <a:ea typeface="Calibri"/>
                <a:cs typeface="Calibri"/>
              </a:rPr>
              <a:t>ohne</a:t>
            </a:r>
            <a:r>
              <a:rPr lang="en-US" sz="1600" dirty="0">
                <a:ea typeface="Calibri"/>
                <a:cs typeface="Calibri"/>
              </a:rPr>
              <a:t> Datum-Dimension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Tools &amp; Best Practices: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✓ Draw.io für ER-</a:t>
            </a:r>
            <a:r>
              <a:rPr lang="en-US" sz="1600" dirty="0" err="1">
                <a:ea typeface="Calibri"/>
                <a:cs typeface="Calibri"/>
              </a:rPr>
              <a:t>Diagramme</a:t>
            </a:r>
            <a:endParaRPr lang="en-US" sz="1600" dirty="0">
              <a:ea typeface="Calibri"/>
              <a:cs typeface="Calibri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✓ Version Control für SQL-Scripts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600" dirty="0">
                <a:ea typeface="Calibri"/>
                <a:cs typeface="Calibri"/>
              </a:rPr>
              <a:t>✓ </a:t>
            </a:r>
            <a:r>
              <a:rPr lang="en-US" sz="1600" dirty="0" err="1">
                <a:ea typeface="Calibri"/>
                <a:cs typeface="Calibri"/>
              </a:rPr>
              <a:t>Dokumentation</a:t>
            </a:r>
            <a:r>
              <a:rPr lang="en-US" sz="1600" dirty="0">
                <a:ea typeface="Calibri"/>
                <a:cs typeface="Calibri"/>
              </a:rPr>
              <a:t> parallel </a:t>
            </a:r>
            <a:r>
              <a:rPr lang="en-US" sz="1600" dirty="0" err="1">
                <a:ea typeface="Calibri"/>
                <a:cs typeface="Calibri"/>
              </a:rPr>
              <a:t>zum</a:t>
            </a:r>
            <a:r>
              <a:rPr lang="en-US" sz="1600" dirty="0">
                <a:ea typeface="Calibri"/>
                <a:cs typeface="Calibri"/>
              </a:rPr>
              <a:t> Code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9B5970-8F6D-7B88-7B0E-C4F1C2D2D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01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Fragen &amp; Diskussion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100" b="1" err="1">
                <a:solidFill>
                  <a:srgbClr val="7030A0"/>
                </a:solidFill>
                <a:ea typeface="Calibri"/>
                <a:cs typeface="Calibri"/>
              </a:rPr>
              <a:t>Vielen</a:t>
            </a:r>
            <a:r>
              <a:rPr lang="en-US" sz="2100" b="1" dirty="0">
                <a:solidFill>
                  <a:srgbClr val="7030A0"/>
                </a:solidFill>
                <a:ea typeface="Calibri"/>
                <a:cs typeface="Calibri"/>
              </a:rPr>
              <a:t> Dank für </a:t>
            </a:r>
            <a:r>
              <a:rPr lang="en-US" sz="2100" b="1" err="1">
                <a:solidFill>
                  <a:srgbClr val="7030A0"/>
                </a:solidFill>
                <a:ea typeface="Calibri"/>
                <a:cs typeface="Calibri"/>
              </a:rPr>
              <a:t>Ihre</a:t>
            </a:r>
            <a:r>
              <a:rPr lang="en-US" sz="2100" b="1" dirty="0">
                <a:solidFill>
                  <a:srgbClr val="7030A0"/>
                </a:solidFill>
                <a:ea typeface="Calibri"/>
                <a:cs typeface="Calibri"/>
              </a:rPr>
              <a:t> </a:t>
            </a:r>
            <a:r>
              <a:rPr lang="en-US" sz="2100" b="1" err="1">
                <a:solidFill>
                  <a:srgbClr val="7030A0"/>
                </a:solidFill>
                <a:ea typeface="Calibri"/>
                <a:cs typeface="Calibri"/>
              </a:rPr>
              <a:t>Aufmerksamkeit</a:t>
            </a:r>
            <a:r>
              <a:rPr lang="en-US" sz="2100" b="1" dirty="0">
                <a:solidFill>
                  <a:srgbClr val="7030A0"/>
                </a:solidFill>
                <a:ea typeface="Calibri"/>
                <a:cs typeface="Calibri"/>
              </a:rPr>
              <a:t>!</a:t>
            </a:r>
            <a:endParaRPr lang="en-US" sz="2100">
              <a:solidFill>
                <a:srgbClr val="7030A0"/>
              </a:solidFill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1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1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100" b="1" err="1">
                <a:solidFill>
                  <a:srgbClr val="00B050"/>
                </a:solidFill>
                <a:ea typeface="Calibri"/>
                <a:cs typeface="Calibri"/>
              </a:rPr>
              <a:t>Fragen</a:t>
            </a:r>
            <a:r>
              <a:rPr lang="en-US" sz="2100" b="1" dirty="0">
                <a:solidFill>
                  <a:srgbClr val="00B050"/>
                </a:solidFill>
                <a:ea typeface="Calibri"/>
                <a:cs typeface="Calibri"/>
              </a:rPr>
              <a:t>?</a:t>
            </a:r>
            <a:endParaRPr lang="en-US" sz="2100">
              <a:solidFill>
                <a:srgbClr val="00B050"/>
              </a:solidFill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1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100"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100" b="1" err="1">
                <a:solidFill>
                  <a:srgbClr val="FF0000"/>
                </a:solidFill>
                <a:ea typeface="Calibri"/>
                <a:cs typeface="Calibri"/>
              </a:rPr>
              <a:t>Kontakt</a:t>
            </a:r>
            <a:r>
              <a:rPr lang="en-US" sz="2100" b="1" dirty="0">
                <a:solidFill>
                  <a:srgbClr val="FF0000"/>
                </a:solidFill>
                <a:ea typeface="Calibri"/>
                <a:cs typeface="Calibri"/>
              </a:rPr>
              <a:t>: </a:t>
            </a:r>
            <a:r>
              <a:rPr lang="en-US" sz="2100" dirty="0">
                <a:ea typeface="Calibri"/>
                <a:cs typeface="Calibri"/>
              </a:rPr>
              <a:t>rezakhani.mojgan@gmail.com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100" b="1" dirty="0">
                <a:solidFill>
                  <a:srgbClr val="FF0000"/>
                </a:solidFill>
                <a:ea typeface="Calibri"/>
                <a:cs typeface="Calibri"/>
              </a:rPr>
              <a:t>Repository:</a:t>
            </a:r>
            <a:r>
              <a:rPr lang="en-US" sz="2100" b="1" dirty="0">
                <a:ea typeface="+mn-lt"/>
                <a:cs typeface="+mn-lt"/>
              </a:rPr>
              <a:t> </a:t>
            </a:r>
            <a:r>
              <a:rPr lang="en-US" sz="2100" dirty="0">
                <a:ea typeface="+mn-lt"/>
                <a:cs typeface="+mn-lt"/>
              </a:rPr>
              <a:t>https://github.com/mrezakhani</a:t>
            </a:r>
            <a:endParaRPr lang="en-US" sz="21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Data Warehouse Projekt</vt:lpstr>
      <vt:lpstr>Bibliotheksverwaltungssystem (Library Management System)</vt:lpstr>
      <vt:lpstr>Teammitglieder</vt:lpstr>
      <vt:lpstr>Einschränkungen &amp;Randbedingungen</vt:lpstr>
      <vt:lpstr>Business DB - Design (ER-Modell)</vt:lpstr>
      <vt:lpstr>DWH Design - Snowflake Schema</vt:lpstr>
      <vt:lpstr>Slowly Changing Dimensions (SCD)</vt:lpstr>
      <vt:lpstr>ETL-Prozess &amp; Schedule</vt:lpstr>
      <vt:lpstr>Was haben wir gelernt?</vt:lpstr>
      <vt:lpstr>Projekt-Highlights</vt:lpstr>
      <vt:lpstr>Probleme &amp; Lösungen</vt:lpstr>
      <vt:lpstr>Tipps für Kollegen</vt:lpstr>
      <vt:lpstr>Fragen &amp; Diskussion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381</cp:revision>
  <dcterms:created xsi:type="dcterms:W3CDTF">2013-01-27T09:14:16Z</dcterms:created>
  <dcterms:modified xsi:type="dcterms:W3CDTF">2025-11-13T12:29:20Z</dcterms:modified>
  <cp:category/>
</cp:coreProperties>
</file>